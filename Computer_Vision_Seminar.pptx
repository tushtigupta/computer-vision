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 for the Computer Vision seminar. Introduce yourself, your department, and give a brief overview of the four main topics to be 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Computer Vision (CV) is a subfield of AI that enables computers to interpret visual data. Emphasize how this differs from traditional image processing — CV uses learned representations rather than hand-crafted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Computer Vision is being applied across every major industry. Highlight real examples: Tesla Autopilot for autonomous vehicles, Google Photos for image recognition, and IBM Watson for healthcare diagnostics.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CNNs use local receptive fields and weight sharing to efficiently process image data. The convolution operation slides a filter across the image computing dot products — this is far more efficient than a fully-connected approach for 2D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how a CNN processes a cat vs dog image. The early layers detect edges and textures, middle layers detect patterns like fur and eyes, and the final layers combine these into high-level concepts for classification.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Face detection is often the first step in a larger facial analysis pipeline. Modern detectors like MTCNN, RetinaFace, and MediaPipe can detect faces in real-time on mobile devices with &gt;99% precision on standard benchmarks.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Face detection is now ubiquitous in consumer technology. Discuss privacy concerns around surveillance use cases and the ethical implications of deploying face detection in public spaces without consent.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Libraries like OpenPose, MediaPipe Pose, and MoveNet can detect 17-33 body keypoints in real-time. The models use heatmaps to predict joint locations and Part Affinity Fields to associate keypoints with specific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Body structure analysis is a rapidly growing field. Google's MoveNet can run at 50+ FPS on mobile devices. Discuss how markerless motion capture is replacing expensive multi-camera studio setups in animation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Encoder-decoder architectures are extremely versatile. The original seq2seq model for machine translation (Sutskever et al., 2014) pioneered this approach. U-Net uses skip connections between encoder and decoder layers — critical for medical image segmentation.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encoder-decoder paradigm underlies nearly all modern NLP breakthroughs, from BERT to GPT to LLaMA. In computer vision, U-Net's skip connections preserve spatial information and are now standard in medical imaging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comparison highlights how each technique addresses a specific computer vision challenge. Note the progression in complexity from CNN classification (single output) to encoder-decoder (sequence-to-sequence transformation).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trade-off between performance and cost is a central theme in applied CV. Discuss how techniques like model pruning, quantization, and knowledge distillation are making powerful models deployable on edge devices.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Computer Vision is converging with other AI fields — foundation models like GPT-4V and Gemini show how vision and language can be integrated. Discuss how multimodal AI is the next major paradigm shift.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four topics and emphasize how they interconnect. CNN classification provides the feature extraction backbone used by all other techniques. Encoder-decoder is a meta-architecture that generalizes across all of CV and NLP.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for their attention. Invite questions and have backup slides ready if needed. Mention key references: LeCun et al. (CNN), Viola-Jones (Face Detection), Cao et al. OpenPose, Sutskever et al. Seq2Seq.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1148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2563EB">
              <a:alpha val="80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114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6B6D4"/>
                </a:solidFill>
              </a:rPr>
              <a:t>ARTIFICIAL INTELLIGENCE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47472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8483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Image Classification  ·  Face Detection  ·  Body Structure Analysis  ·  Encoder–Decoder Architecture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/ M.Tech Seminar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Department of Computer Science &amp; Engineering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457200"/>
            <a:ext cx="91440" cy="91440"/>
          </a:xfrm>
          <a:prstGeom prst="ellipse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143000"/>
            <a:ext cx="91440" cy="91440"/>
          </a:xfrm>
          <a:prstGeom prst="ellipse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828800"/>
            <a:ext cx="91440" cy="91440"/>
          </a:xfrm>
          <a:prstGeom prst="ellipse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2514600"/>
            <a:ext cx="91440" cy="91440"/>
          </a:xfrm>
          <a:prstGeom prst="ellipse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457200"/>
            <a:ext cx="91440" cy="91440"/>
          </a:xfrm>
          <a:prstGeom prst="ellipse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1143000"/>
            <a:ext cx="91440" cy="91440"/>
          </a:xfrm>
          <a:prstGeom prst="ellipse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1828800"/>
            <a:ext cx="91440" cy="91440"/>
          </a:xfrm>
          <a:prstGeom prst="ellipse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03720" y="2514600"/>
            <a:ext cx="91440" cy="91440"/>
          </a:xfrm>
          <a:prstGeom prst="ellipse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0" y="457200"/>
            <a:ext cx="91440" cy="91440"/>
          </a:xfrm>
          <a:prstGeom prst="ellipse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1143000"/>
            <a:ext cx="91440" cy="91440"/>
          </a:xfrm>
          <a:prstGeom prst="ellipse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1828800"/>
            <a:ext cx="91440" cy="91440"/>
          </a:xfrm>
          <a:prstGeom prst="ellipse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0" y="2514600"/>
            <a:ext cx="91440" cy="91440"/>
          </a:xfrm>
          <a:prstGeom prst="ellipse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09560" y="457200"/>
            <a:ext cx="91440" cy="91440"/>
          </a:xfrm>
          <a:prstGeom prst="ellipse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09560" y="1143000"/>
            <a:ext cx="91440" cy="91440"/>
          </a:xfrm>
          <a:prstGeom prst="ellipse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09560" y="1828800"/>
            <a:ext cx="91440" cy="91440"/>
          </a:xfrm>
          <a:prstGeom prst="ellipse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09560" y="2514600"/>
            <a:ext cx="91440" cy="91440"/>
          </a:xfrm>
          <a:prstGeom prst="ellipse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0" y="457200"/>
            <a:ext cx="91440" cy="91440"/>
          </a:xfrm>
          <a:prstGeom prst="ellipse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0" y="1143000"/>
            <a:ext cx="91440" cy="91440"/>
          </a:xfrm>
          <a:prstGeom prst="ellipse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0" y="1828800"/>
            <a:ext cx="91440" cy="91440"/>
          </a:xfrm>
          <a:prstGeom prst="ellipse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0" y="2514600"/>
            <a:ext cx="91440" cy="91440"/>
          </a:xfrm>
          <a:prstGeom prst="ellipse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502920"/>
            <a:ext cx="457200" cy="685800"/>
          </a:xfrm>
          <a:prstGeom prst="line">
            <a:avLst/>
          </a:prstGeom>
          <a:noFill/>
          <a:ln w="635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6520" y="1188720"/>
            <a:ext cx="457200" cy="685800"/>
          </a:xfrm>
          <a:prstGeom prst="line">
            <a:avLst/>
          </a:prstGeom>
          <a:noFill/>
          <a:ln w="635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1874520"/>
            <a:ext cx="457200" cy="685800"/>
          </a:xfrm>
          <a:prstGeom prst="line">
            <a:avLst/>
          </a:prstGeom>
          <a:noFill/>
          <a:ln w="635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2560320"/>
            <a:ext cx="457200" cy="685800"/>
          </a:xfrm>
          <a:prstGeom prst="line">
            <a:avLst/>
          </a:prstGeom>
          <a:noFill/>
          <a:ln w="6350">
            <a:solidFill>
              <a:srgbClr val="06B6D4">
                <a:alpha val="3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Computer Vision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machines perceive and understand the visual world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51560"/>
            <a:ext cx="5029200" cy="1097280"/>
          </a:xfrm>
          <a:prstGeom prst="rect">
            <a:avLst/>
          </a:prstGeom>
          <a:solidFill>
            <a:srgbClr val="2563EB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051560"/>
            <a:ext cx="64008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2471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Computer Vision?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3716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of AI enabling machines to interpret and understand visual information from images, videos, and the real world — mimicking human visual perception.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313432"/>
            <a:ext cx="5029200" cy="1097280"/>
          </a:xfrm>
          <a:prstGeom prst="rect">
            <a:avLst/>
          </a:prstGeom>
          <a:solidFill>
            <a:srgbClr val="1D4ED8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313432"/>
            <a:ext cx="64008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865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Machines See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63347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pixel arrays. CV algorithms extract features — edges, textures, shapes — and use deep learning to classify, detect, and segment objects.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575304"/>
            <a:ext cx="5029200" cy="1097280"/>
          </a:xfrm>
          <a:prstGeom prst="rect">
            <a:avLst/>
          </a:prstGeom>
          <a:solidFill>
            <a:srgbClr val="155E75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575304"/>
            <a:ext cx="64008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6484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895344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autonomous vehicles, medical diagnostics, surveillance, robotics, and AR/VR. CV is foundational to modern AI applications.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Image → Machine Pipeline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1353312"/>
            <a:ext cx="3108960" cy="438912"/>
          </a:xfrm>
          <a:prstGeom prst="rect">
            <a:avLst/>
          </a:prstGeom>
          <a:solidFill>
            <a:srgbClr val="1E40A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35331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Raw Image Input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23760" y="1792224"/>
            <a:ext cx="9144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0" y="2011680"/>
            <a:ext cx="3108960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201168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Preprocessing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23760" y="2450592"/>
            <a:ext cx="9144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0" y="2670048"/>
            <a:ext cx="3108960" cy="438912"/>
          </a:xfrm>
          <a:prstGeom prst="rect">
            <a:avLst/>
          </a:prstGeom>
          <a:solidFill>
            <a:srgbClr val="0369A1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2670048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Feature Extraction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23760" y="3108960"/>
            <a:ext cx="9144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3328416"/>
            <a:ext cx="3108960" cy="438912"/>
          </a:xfrm>
          <a:prstGeom prst="rect">
            <a:avLst/>
          </a:prstGeom>
          <a:solidFill>
            <a:srgbClr val="0E749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3328416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Deep Learning Model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23760" y="3767328"/>
            <a:ext cx="9144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60720" y="3986784"/>
            <a:ext cx="3108960" cy="438912"/>
          </a:xfrm>
          <a:prstGeom prst="rect">
            <a:avLst/>
          </a:prstGeom>
          <a:solidFill>
            <a:srgbClr val="065F46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3986784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Prediction / Output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of Computer Vision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industries with visual intelligence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560320" cy="1554480"/>
          </a:xfrm>
          <a:prstGeom prst="rect">
            <a:avLst/>
          </a:prstGeom>
          <a:solidFill>
            <a:srgbClr val="0F172A"/>
          </a:solidFill>
          <a:ln w="19050">
            <a:solidFill>
              <a:srgbClr val="BE185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2560320" cy="64008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216152"/>
            <a:ext cx="548640" cy="548640"/>
          </a:xfrm>
          <a:prstGeom prst="ellipse">
            <a:avLst/>
          </a:prstGeom>
          <a:solidFill>
            <a:srgbClr val="BE185D">
              <a:alpha val="80000"/>
            </a:srgbClr>
          </a:solidFill>
          <a:ln w="12700">
            <a:solidFill>
              <a:srgbClr val="BE185D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316736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12161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94360" y="18562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detection &amp; X-ray analysis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1051560"/>
            <a:ext cx="2560320" cy="1554480"/>
          </a:xfrm>
          <a:prstGeom prst="rect">
            <a:avLst/>
          </a:prstGeom>
          <a:solidFill>
            <a:srgbClr val="0F172A"/>
          </a:solidFill>
          <a:ln w="1905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1051560"/>
            <a:ext cx="256032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83280" y="1216152"/>
            <a:ext cx="548640" cy="548640"/>
          </a:xfrm>
          <a:prstGeom prst="ellipse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864" y="1316736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023360" y="12161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383280" y="18562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detection &amp; obstacle avoidance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035040" y="1051560"/>
            <a:ext cx="2560320" cy="1554480"/>
          </a:xfrm>
          <a:prstGeom prst="rect">
            <a:avLst/>
          </a:prstGeom>
          <a:solidFill>
            <a:srgbClr val="0F172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35040" y="1051560"/>
            <a:ext cx="25603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72200" y="1216152"/>
            <a:ext cx="548640" cy="548640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316736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12280" y="12161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Systems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172200" y="18562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 &amp; monitoring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57200" y="2862072"/>
            <a:ext cx="2560320" cy="1554480"/>
          </a:xfrm>
          <a:prstGeom prst="rect">
            <a:avLst/>
          </a:prstGeom>
          <a:solidFill>
            <a:srgbClr val="0F172A"/>
          </a:solidFill>
          <a:ln w="1905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57200" y="2862072"/>
            <a:ext cx="2560320" cy="640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94360" y="3026664"/>
            <a:ext cx="548640" cy="548640"/>
          </a:xfrm>
          <a:prstGeom prst="ellipse">
            <a:avLst/>
          </a:prstGeom>
          <a:solidFill>
            <a:srgbClr val="0369A1">
              <a:alpha val="80000"/>
            </a:srgbClr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127248"/>
            <a:ext cx="347472" cy="34747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234440" y="302666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594360" y="366674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monitoring &amp; customer insights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3246120" y="2862072"/>
            <a:ext cx="2560320" cy="1554480"/>
          </a:xfrm>
          <a:prstGeom prst="rect">
            <a:avLst/>
          </a:prstGeom>
          <a:solidFill>
            <a:srgbClr val="0F172A"/>
          </a:solidFill>
          <a:ln w="19050">
            <a:solidFill>
              <a:srgbClr val="1580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246120" y="2862072"/>
            <a:ext cx="2560320" cy="640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383280" y="3026664"/>
            <a:ext cx="548640" cy="548640"/>
          </a:xfrm>
          <a:prstGeom prst="ellipse">
            <a:avLst/>
          </a:prstGeom>
          <a:solidFill>
            <a:srgbClr val="15803D">
              <a:alpha val="80000"/>
            </a:srgbClr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3127248"/>
            <a:ext cx="347472" cy="34747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023360" y="302666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3383280" y="366674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health &amp; yield estimation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6035040" y="2862072"/>
            <a:ext cx="2560320" cy="1554480"/>
          </a:xfrm>
          <a:prstGeom prst="rect">
            <a:avLst/>
          </a:prstGeom>
          <a:solidFill>
            <a:srgbClr val="0F172A"/>
          </a:solidFill>
          <a:ln w="1905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6035040" y="2862072"/>
            <a:ext cx="2560320" cy="64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172200" y="3026664"/>
            <a:ext cx="548640" cy="548640"/>
          </a:xfrm>
          <a:prstGeom prst="ellipse">
            <a:avLst/>
          </a:prstGeom>
          <a:solidFill>
            <a:srgbClr val="B45309">
              <a:alpha val="80000"/>
            </a:srgbClr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3127248"/>
            <a:ext cx="347472" cy="34747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812280" y="302666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Surveillance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6172200" y="366674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analysis &amp; threat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Image Classification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Networks — the backbone of visual 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51560"/>
            <a:ext cx="8321040" cy="621792"/>
          </a:xfrm>
          <a:prstGeom prst="rect">
            <a:avLst/>
          </a:prstGeom>
          <a:solidFill>
            <a:srgbClr val="2563EB">
              <a:alpha val="6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is a deep learning algorithm that processes grid-structured data (images) by applying learned filters to extract hierarchical features — from edges to complex patterns — for classification tasks.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2606040" cy="2377440"/>
          </a:xfrm>
          <a:prstGeom prst="rect">
            <a:avLst/>
          </a:prstGeom>
          <a:solidFill>
            <a:srgbClr val="1E40AF">
              <a:alpha val="75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920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Convolution Layer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21208" y="2377440"/>
            <a:ext cx="240487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learnable filters/kernels to input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low-level features (edges, corners)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Feature Maps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filters detect different patterns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1208" y="2377440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Applies learnable filters/kernels to input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21208" y="2770632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Extracts low-level features (edges, corners)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1208" y="3163824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Produces Feature Maps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1208" y="3557016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Multiple filters detect different patterns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1828800"/>
            <a:ext cx="2606040" cy="2377440"/>
          </a:xfrm>
          <a:prstGeom prst="rect">
            <a:avLst/>
          </a:prstGeom>
          <a:solidFill>
            <a:srgbClr val="0369A1">
              <a:alpha val="75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920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Pooling Layer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10128" y="2377440"/>
            <a:ext cx="240487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spatial dimensions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Pooling: keeps strongest activation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computational cost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translation invariance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10128" y="2377440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Reduces spatial dimensions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10128" y="2770632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Max Pooling: keeps strongest activation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0128" y="3163824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Reduces computational cost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10128" y="3557016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Provides translation invariance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89320" y="1828800"/>
            <a:ext cx="2606040" cy="2377440"/>
          </a:xfrm>
          <a:prstGeom prst="rect">
            <a:avLst/>
          </a:prstGeom>
          <a:solidFill>
            <a:srgbClr val="0E7490">
              <a:alpha val="75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99048" y="1920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Fully Connected Layer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099048" y="2377440"/>
            <a:ext cx="240487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Flattens feature maps to 1D vector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global combinations of features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layer uses Softmax activation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class probabilities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99048" y="2377440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Flattens feature maps to 1D vector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99048" y="2770632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Learns global combinations of features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99048" y="3163824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Final layer uses Softmax activation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99048" y="3557016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Outputs class probabilities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Working Process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pipeline: from raw pixels to classification output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1234440" cy="914400"/>
          </a:xfrm>
          <a:prstGeom prst="rect">
            <a:avLst/>
          </a:prstGeom>
          <a:solidFill>
            <a:srgbClr val="1E3A8A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6187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 px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45920" y="1572768"/>
            <a:ext cx="164592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47672" y="1188720"/>
            <a:ext cx="1234440" cy="914400"/>
          </a:xfrm>
          <a:prstGeom prst="rect">
            <a:avLst/>
          </a:prstGeom>
          <a:solidFill>
            <a:srgbClr val="1D4ED8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47672" y="126187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47672" y="181051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182112" y="1572768"/>
            <a:ext cx="164592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83864" y="1188720"/>
            <a:ext cx="1234440" cy="914400"/>
          </a:xfrm>
          <a:prstGeom prst="rect">
            <a:avLst/>
          </a:prstGeom>
          <a:solidFill>
            <a:srgbClr val="0369A1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83864" y="126187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83864" y="181051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Non-linearity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18304" y="1572768"/>
            <a:ext cx="164592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0056" y="1188720"/>
            <a:ext cx="1234440" cy="914400"/>
          </a:xfrm>
          <a:prstGeom prst="rect">
            <a:avLst/>
          </a:prstGeom>
          <a:solidFill>
            <a:srgbClr val="0E7490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0056" y="126187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0056" y="181051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54496" y="1572768"/>
            <a:ext cx="164592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56248" y="1188720"/>
            <a:ext cx="1234440" cy="914400"/>
          </a:xfrm>
          <a:prstGeom prst="rect">
            <a:avLst/>
          </a:prstGeom>
          <a:solidFill>
            <a:srgbClr val="065F46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56248" y="126187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56248" y="181051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Layers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790688" y="1572768"/>
            <a:ext cx="164592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92440" y="1188720"/>
            <a:ext cx="1234440" cy="914400"/>
          </a:xfrm>
          <a:prstGeom prst="rect">
            <a:avLst/>
          </a:prstGeom>
          <a:solidFill>
            <a:srgbClr val="15803D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2440" y="126187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92440" y="181051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Probs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" y="2331720"/>
            <a:ext cx="832104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468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🐱 vs 🐶 — Cat &amp; Dog Classification Example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29260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🐱 Cat Image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329184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234440" y="3337560"/>
            <a:ext cx="256032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34440" y="3337560"/>
            <a:ext cx="2491191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0" y="3291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97.3%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" y="369417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234440" y="3739896"/>
            <a:ext cx="256032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34440" y="3739896"/>
            <a:ext cx="53767" cy="18288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0" y="36941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409651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234440" y="4142232"/>
            <a:ext cx="256032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34440" y="4142232"/>
            <a:ext cx="15362" cy="18288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0" y="4096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0.6%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54880" y="29260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🐶 Dog Image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54880" y="329184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532120" y="3337560"/>
            <a:ext cx="256032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32120" y="3337560"/>
            <a:ext cx="2424623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38160" y="3291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94.7%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754880" y="369417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532120" y="3739896"/>
            <a:ext cx="256032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532120" y="3739896"/>
            <a:ext cx="107533" cy="18288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38160" y="36941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754880" y="409651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Wolf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532120" y="4142232"/>
            <a:ext cx="256032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532120" y="4142232"/>
            <a:ext cx="28164" cy="18288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138160" y="4096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Locating and identifying human faces in digital images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51560"/>
            <a:ext cx="5212080" cy="530352"/>
          </a:xfrm>
          <a:prstGeom prst="rect">
            <a:avLst/>
          </a:prstGeom>
          <a:solidFill>
            <a:srgbClr val="2563EB">
              <a:alpha val="6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78992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is the process of automatically locating human faces in an image and drawing bounding boxes around them — without identifying who they are.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Sliding window scans image at multiple scales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CNN extracts facial feature maps at each position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72491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Anchor boxes predict face locations (YOLO/SSD/RetinaNet)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07238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Non-Maximum Suppression removes duplicate detections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41985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Bounding boxes drawn with confidence scores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1051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vs Recognition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1463040"/>
            <a:ext cx="2834640" cy="1508760"/>
          </a:xfrm>
          <a:prstGeom prst="rect">
            <a:avLst/>
          </a:prstGeom>
          <a:solidFill>
            <a:srgbClr val="1D4ED8">
              <a:alpha val="70000"/>
            </a:srgbClr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5544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18745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Finds WHERE a face is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35040" y="21488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Returns bounding boxes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35040" y="24231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identity info needed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35040" y="26974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Faster processing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0" y="3200400"/>
            <a:ext cx="2834640" cy="1508760"/>
          </a:xfrm>
          <a:prstGeom prst="rect">
            <a:avLst/>
          </a:prstGeom>
          <a:solidFill>
            <a:srgbClr val="7C3AED">
              <a:alpha val="7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32918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36118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Identifies WHO the face is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35040" y="38862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Matches against database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35040" y="41605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identity dataset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35040" y="44348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More complex pipeline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3749040"/>
            <a:ext cx="475488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3931920"/>
            <a:ext cx="608076" cy="576072"/>
          </a:xfrm>
          <a:prstGeom prst="ellipse">
            <a:avLst/>
          </a:prstGeom>
          <a:solidFill>
            <a:srgbClr val="3B4560"/>
          </a:solidFill>
          <a:ln w="12700">
            <a:solidFill>
              <a:srgbClr val="4B55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3840480"/>
            <a:ext cx="868680" cy="822960"/>
          </a:xfrm>
          <a:prstGeom prst="rect">
            <a:avLst/>
          </a:prstGeom>
          <a:solidFill>
            <a:srgbClr val="10B981">
              <a:alpha val="1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66344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103120" y="3886200"/>
            <a:ext cx="704088" cy="576072"/>
          </a:xfrm>
          <a:prstGeom prst="ellipse">
            <a:avLst/>
          </a:prstGeom>
          <a:solidFill>
            <a:srgbClr val="3B4560"/>
          </a:solidFill>
          <a:ln w="12700">
            <a:solidFill>
              <a:srgbClr val="4B55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11680" y="3794760"/>
            <a:ext cx="1005840" cy="822960"/>
          </a:xfrm>
          <a:prstGeom prst="rect">
            <a:avLst/>
          </a:prstGeom>
          <a:solidFill>
            <a:srgbClr val="10B981">
              <a:alpha val="1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0" y="4617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95.7%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566160" y="3931920"/>
            <a:ext cx="576072" cy="544068"/>
          </a:xfrm>
          <a:prstGeom prst="ellipse">
            <a:avLst/>
          </a:prstGeom>
          <a:solidFill>
            <a:srgbClr val="3B4560"/>
          </a:solidFill>
          <a:ln w="12700">
            <a:solidFill>
              <a:srgbClr val="4B557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0" y="3840480"/>
            <a:ext cx="822960" cy="777240"/>
          </a:xfrm>
          <a:prstGeom prst="rect">
            <a:avLst/>
          </a:prstGeom>
          <a:solidFill>
            <a:srgbClr val="10B981">
              <a:alpha val="1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46177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91.3%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57200" y="48006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Face Detection Output — Bounding Boxes with Confidence Scores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of Face Detection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 powering modern technology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51560"/>
            <a:ext cx="4023360" cy="1783080"/>
          </a:xfrm>
          <a:prstGeom prst="rect">
            <a:avLst/>
          </a:prstGeom>
          <a:solidFill>
            <a:srgbClr val="0F172A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051560"/>
            <a:ext cx="402336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234440"/>
            <a:ext cx="594360" cy="594360"/>
          </a:xfrm>
          <a:prstGeom prst="ellipse">
            <a:avLst/>
          </a:prstGeom>
          <a:solidFill>
            <a:srgbClr val="1D4ED8">
              <a:alpha val="85000"/>
            </a:srgbClr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44168"/>
            <a:ext cx="374904" cy="3749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52728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Unlock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1856232"/>
            <a:ext cx="3767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 and Android face unlock use 3D depth mapping with CNN models to authenticate users in &lt;300ms with 1-in-1,000,000 false accept rate.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81728" y="1051560"/>
            <a:ext cx="4023360" cy="1783080"/>
          </a:xfrm>
          <a:prstGeom prst="rect">
            <a:avLst/>
          </a:prstGeom>
          <a:solidFill>
            <a:srgbClr val="0F172A"/>
          </a:solidFill>
          <a:ln w="19050">
            <a:solidFill>
              <a:srgbClr val="0369A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81728" y="1051560"/>
            <a:ext cx="4023360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18888" y="1234440"/>
            <a:ext cx="594360" cy="594360"/>
          </a:xfrm>
          <a:prstGeom prst="ellipse">
            <a:avLst/>
          </a:prstGeom>
          <a:solidFill>
            <a:srgbClr val="0369A1">
              <a:alpha val="85000"/>
            </a:srgbClr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1344168"/>
            <a:ext cx="374904" cy="3749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22976" y="12527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Systems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818888" y="1856232"/>
            <a:ext cx="3767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contactless attendance marking in schools and offices. Detects and identifies multiple faces simultaneously from live camera feeds.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11480" y="3017520"/>
            <a:ext cx="4023360" cy="1783080"/>
          </a:xfrm>
          <a:prstGeom prst="rect">
            <a:avLst/>
          </a:prstGeom>
          <a:solidFill>
            <a:srgbClr val="0F172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11480" y="3017520"/>
            <a:ext cx="40233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3200400"/>
            <a:ext cx="594360" cy="594360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310128"/>
            <a:ext cx="374904" cy="37490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52728" y="321868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Monitoring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48640" y="3822192"/>
            <a:ext cx="3767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surveillance systems scan crowds to detect known suspects in real-time. Integrated with criminal databases for instant alerts.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681728" y="3017520"/>
            <a:ext cx="4023360" cy="1783080"/>
          </a:xfrm>
          <a:prstGeom prst="rect">
            <a:avLst/>
          </a:prstGeom>
          <a:solidFill>
            <a:srgbClr val="0F172A"/>
          </a:solidFill>
          <a:ln w="19050">
            <a:solidFill>
              <a:srgbClr val="BE185D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681728" y="3017520"/>
            <a:ext cx="4023360" cy="54864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818888" y="3200400"/>
            <a:ext cx="594360" cy="594360"/>
          </a:xfrm>
          <a:prstGeom prst="ellipse">
            <a:avLst/>
          </a:prstGeom>
          <a:solidFill>
            <a:srgbClr val="BE185D">
              <a:alpha val="85000"/>
            </a:srgbClr>
          </a:solidFill>
          <a:ln w="12700">
            <a:solidFill>
              <a:srgbClr val="BE185D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310128"/>
            <a:ext cx="374904" cy="37490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22976" y="321868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Tagging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818888" y="3822192"/>
            <a:ext cx="3767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DeepFace and Google Photos automatically detect and suggest tags for friends in uploaded photos using face detection + recognition pipeline.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Structure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Pose Estimation — tracking body keypoints in space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51560"/>
            <a:ext cx="5303520" cy="530352"/>
          </a:xfrm>
          <a:prstGeom prst="rect">
            <a:avLst/>
          </a:prstGeom>
          <a:solidFill>
            <a:srgbClr val="2563EB">
              <a:alpha val="6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78992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Pose Estimation detects and localizes body keypoints (joints) from images/video to build a skeletal representation — enabling understanding of human posture and motion.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Keypoints: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2011680"/>
            <a:ext cx="5303520" cy="402336"/>
          </a:xfrm>
          <a:prstGeom prst="rect">
            <a:avLst/>
          </a:prstGeom>
          <a:solidFill>
            <a:srgbClr val="1E40AF">
              <a:alpha val="50000"/>
            </a:srgbClr>
          </a:solidFill>
          <a:ln w="1016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01168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&amp; Neck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11680" y="201168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Nose, left/right eye, left/right ear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468880"/>
            <a:ext cx="5303520" cy="402336"/>
          </a:xfrm>
          <a:prstGeom prst="rect">
            <a:avLst/>
          </a:prstGeom>
          <a:solidFill>
            <a:srgbClr val="0369A1">
              <a:alpha val="50000"/>
            </a:srgbClr>
          </a:solidFill>
          <a:ln w="1016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46888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Body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11680" y="246888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Left/Right shoulder, Left/Right elbow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926080"/>
            <a:ext cx="5303520" cy="402336"/>
          </a:xfrm>
          <a:prstGeom prst="rect">
            <a:avLst/>
          </a:prstGeom>
          <a:solidFill>
            <a:srgbClr val="0E7490">
              <a:alpha val="50000"/>
            </a:srgbClr>
          </a:solidFill>
          <a:ln w="1016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92608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&amp; Wrists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11680" y="292608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Left/Right wrist (17 hand landmarks each)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383280"/>
            <a:ext cx="5303520" cy="402336"/>
          </a:xfrm>
          <a:prstGeom prst="rect">
            <a:avLst/>
          </a:prstGeom>
          <a:solidFill>
            <a:srgbClr val="065F46">
              <a:alpha val="50000"/>
            </a:srgbClr>
          </a:solidFill>
          <a:ln w="10160">
            <a:solidFill>
              <a:srgbClr val="065F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38328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&amp; Hips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011680" y="338328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Left/Right hip joint localization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840480"/>
            <a:ext cx="5303520" cy="402336"/>
          </a:xfrm>
          <a:prstGeom prst="rect">
            <a:avLst/>
          </a:prstGeom>
          <a:solidFill>
            <a:srgbClr val="15803D">
              <a:alpha val="50000"/>
            </a:srgbClr>
          </a:solidFill>
          <a:ln w="1016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84048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Body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011680" y="384048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Left/Right knee, Left/Right ankle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1051560"/>
            <a:ext cx="2834640" cy="3794760"/>
          </a:xfrm>
          <a:prstGeom prst="rect">
            <a:avLst/>
          </a:prstGeom>
          <a:solidFill>
            <a:srgbClr val="0F172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109728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Tracking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78040" y="1463040"/>
            <a:ext cx="365760" cy="3657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60920" y="1828800"/>
            <a:ext cx="0" cy="32004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2148840"/>
            <a:ext cx="1005840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0" y="2148840"/>
            <a:ext cx="-274320" cy="45720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2606040"/>
            <a:ext cx="-228600" cy="4114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0" y="2148840"/>
            <a:ext cx="274320" cy="45720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0" y="2606040"/>
            <a:ext cx="228600" cy="4114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60920" y="2148840"/>
            <a:ext cx="0" cy="68580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95160" y="2834640"/>
            <a:ext cx="731520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95160" y="2834640"/>
            <a:ext cx="-137160" cy="5943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0" y="3429000"/>
            <a:ext cx="45720" cy="54864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26680" y="2834640"/>
            <a:ext cx="137160" cy="5943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63840" y="3429000"/>
            <a:ext cx="-45720" cy="54864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78624" y="142646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75704" y="206654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81544" y="206654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01384" y="252374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55864" y="252374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72784" y="293522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84464" y="293522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12864" y="275234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44384" y="275234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75704" y="334670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781544" y="334670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21424" y="389534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35824" y="389534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0" y="455371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17 keypoints · MediaPipe / OpenPose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of Body Structure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how we interact with the physical world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51560"/>
            <a:ext cx="4023360" cy="1920240"/>
          </a:xfrm>
          <a:prstGeom prst="rect">
            <a:avLst/>
          </a:prstGeom>
          <a:solidFill>
            <a:srgbClr val="0F172A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1051560"/>
            <a:ext cx="1097280" cy="1920240"/>
          </a:xfrm>
          <a:prstGeom prst="rect">
            <a:avLst/>
          </a:prstGeom>
          <a:solidFill>
            <a:srgbClr val="15803D">
              <a:alpha val="40000"/>
            </a:srgbClr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16152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61288" y="11612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&amp; Rehabilitation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1801368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personal trainers analyze rep form, detect joint angles, and provide real-time posture correction feedback to prevent injuries.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429000" y="15087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383280" y="2011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Reduction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681728" y="1051560"/>
            <a:ext cx="4023360" cy="1920240"/>
          </a:xfrm>
          <a:prstGeom prst="rect">
            <a:avLst/>
          </a:prstGeom>
          <a:solidFill>
            <a:srgbClr val="0F172A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07808" y="1051560"/>
            <a:ext cx="1097280" cy="1920240"/>
          </a:xfrm>
          <a:prstGeom prst="rect">
            <a:avLst/>
          </a:prstGeom>
          <a:solidFill>
            <a:srgbClr val="B45309">
              <a:alpha val="40000"/>
            </a:srgbClr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216152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31536" y="11612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Analytics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818888" y="1801368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athlete kinematics, sprint biomechanics, and technique optimization. Used by NBA, FIFA, and Olympic coaching teams.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7699248" y="15087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7653528" y="2011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Gain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411480" y="3154680"/>
            <a:ext cx="4023360" cy="1920240"/>
          </a:xfrm>
          <a:prstGeom prst="rect">
            <a:avLst/>
          </a:prstGeom>
          <a:solidFill>
            <a:srgbClr val="0F172A"/>
          </a:solidFill>
          <a:ln w="19050">
            <a:solidFill>
              <a:srgbClr val="BE185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337560" y="3154680"/>
            <a:ext cx="1097280" cy="1920240"/>
          </a:xfrm>
          <a:prstGeom prst="rect">
            <a:avLst/>
          </a:prstGeom>
          <a:solidFill>
            <a:srgbClr val="BE185D">
              <a:alpha val="40000"/>
            </a:srgbClr>
          </a:solidFill>
          <a:ln w="12700">
            <a:solidFill>
              <a:srgbClr val="BE185D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19272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61288" y="32644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Monitoring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48640" y="3904488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Gait analysis for neurological disorders, fall detection for elderly patients, and physical therapy progress tracking.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3429000" y="3611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3383280" y="4114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4681728" y="3154680"/>
            <a:ext cx="4023360" cy="1920240"/>
          </a:xfrm>
          <a:prstGeom prst="rect">
            <a:avLst/>
          </a:prstGeom>
          <a:solidFill>
            <a:srgbClr val="0F172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607808" y="3154680"/>
            <a:ext cx="1097280" cy="1920240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3319272"/>
            <a:ext cx="502920" cy="5029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31536" y="32644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&amp; Animation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4818888" y="3904488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capture without suits — games like Xbox Kinect and VR applications use pose estimation for full-body player interaction.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7699248" y="3611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60fps</a:t>
            </a:r>
            <a:endParaRPr lang="en-US" sz="2000" dirty="0"/>
          </a:p>
        </p:txBody>
      </p:sp>
      <p:sp>
        <p:nvSpPr>
          <p:cNvPr id="34" name="Text 28"/>
          <p:cNvSpPr/>
          <p:nvPr/>
        </p:nvSpPr>
        <p:spPr>
          <a:xfrm>
            <a:off x="7653528" y="4114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Speed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Encoder–Decoder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Compressing and reconstructing information through learned representations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24128"/>
            <a:ext cx="8321040" cy="502920"/>
          </a:xfrm>
          <a:prstGeom prst="rect">
            <a:avLst/>
          </a:prstGeom>
          <a:solidFill>
            <a:srgbClr val="2563EB">
              <a:alpha val="6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Encoder-Decoder is a neural architecture that maps input data to a compact latent representation (encoding) and then reconstructs or transforms it into an output (decoding). Foundational for generative AI, NLP, and image segmentation.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719072"/>
            <a:ext cx="1097280" cy="1371600"/>
          </a:xfrm>
          <a:prstGeom prst="rect">
            <a:avLst/>
          </a:prstGeom>
          <a:solidFill>
            <a:srgbClr val="1E3A8A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0195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4688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Text / Audio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508760" y="2340864"/>
            <a:ext cx="201168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09928" y="1719072"/>
            <a:ext cx="1645920" cy="1371600"/>
          </a:xfrm>
          <a:prstGeom prst="rect">
            <a:avLst/>
          </a:prstGeom>
          <a:solidFill>
            <a:srgbClr val="1D4ED8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9928" y="190195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09928" y="24688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355848" y="2340864"/>
            <a:ext cx="201168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57016" y="1719072"/>
            <a:ext cx="1463040" cy="1371600"/>
          </a:xfrm>
          <a:prstGeom prst="rect">
            <a:avLst/>
          </a:prstGeom>
          <a:solidFill>
            <a:srgbClr val="0E7490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57016" y="190195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z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57016" y="24688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Repr.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0056" y="2340864"/>
            <a:ext cx="201168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21224" y="1719072"/>
            <a:ext cx="1645920" cy="1371600"/>
          </a:xfrm>
          <a:prstGeom prst="rect">
            <a:avLst/>
          </a:prstGeom>
          <a:solidFill>
            <a:srgbClr val="065F46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21224" y="190195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21224" y="24688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Upsampling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67144" y="2340864"/>
            <a:ext cx="201168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68312" y="1719072"/>
            <a:ext cx="1234440" cy="1371600"/>
          </a:xfrm>
          <a:prstGeom prst="rect">
            <a:avLst/>
          </a:prstGeom>
          <a:solidFill>
            <a:srgbClr val="166534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68312" y="190195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68312" y="2468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/ Generated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480" y="3337560"/>
            <a:ext cx="2651760" cy="1463040"/>
          </a:xfrm>
          <a:prstGeom prst="rect">
            <a:avLst/>
          </a:prstGeom>
          <a:solidFill>
            <a:srgbClr val="1D4ED8">
              <a:alpha val="6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" y="34015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" y="37033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series of convolutional or attention layers that progressively compress the input into a lower-dimensional feature vector, capturing the essential semantic content.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64408" y="3337560"/>
            <a:ext cx="2651760" cy="1463040"/>
          </a:xfrm>
          <a:prstGeom prst="rect">
            <a:avLst/>
          </a:prstGeom>
          <a:solidFill>
            <a:srgbClr val="0E7490">
              <a:alpha val="65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74136" y="34015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Representation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74136" y="37033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feature vector — a dense, compressed encoding of the input. In VAEs this is a probability distribution; in Transformers it's the hidden state.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17336" y="3337560"/>
            <a:ext cx="2651760" cy="1463040"/>
          </a:xfrm>
          <a:prstGeom prst="rect">
            <a:avLst/>
          </a:prstGeom>
          <a:solidFill>
            <a:srgbClr val="065F46">
              <a:alpha val="65000"/>
            </a:srgbClr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27064" y="34015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27064" y="37033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the encoder structure using transposed convolutions or attention to reconstruct or generate output from the latent code. Output matches the target domain.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of Encoder–Decoder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the most transformative AI capabilities of our era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11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51560"/>
            <a:ext cx="8321040" cy="841248"/>
          </a:xfrm>
          <a:prstGeom prst="rect">
            <a:avLst/>
          </a:prstGeom>
          <a:solidFill>
            <a:srgbClr val="0F172A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051560"/>
            <a:ext cx="54864" cy="8412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179576"/>
            <a:ext cx="566928" cy="566928"/>
          </a:xfrm>
          <a:prstGeom prst="ellipse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289304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1872" y="1143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261872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Translate, DeepL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83280" y="1216152"/>
            <a:ext cx="0" cy="502920"/>
          </a:xfrm>
          <a:prstGeom prst="line">
            <a:avLst/>
          </a:prstGeom>
          <a:noFill/>
          <a:ln w="12700">
            <a:solidFill>
              <a:srgbClr val="1D4ED8">
                <a:alpha val="6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20440" y="1143000"/>
            <a:ext cx="5074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encoder-decoder converts source language sequences to target language. Attention mechanisms allow the decoder to focus on relevant source words.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11480" y="2011680"/>
            <a:ext cx="8321040" cy="841248"/>
          </a:xfrm>
          <a:prstGeom prst="rect">
            <a:avLst/>
          </a:prstGeom>
          <a:solidFill>
            <a:srgbClr val="0F172A"/>
          </a:solidFill>
          <a:ln w="19050">
            <a:solidFill>
              <a:srgbClr val="0369A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1480" y="2011680"/>
            <a:ext cx="54864" cy="8412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" y="2139696"/>
            <a:ext cx="566928" cy="566928"/>
          </a:xfrm>
          <a:prstGeom prst="ellipse">
            <a:avLst/>
          </a:prstGeom>
          <a:solidFill>
            <a:srgbClr val="0369A1">
              <a:alpha val="80000"/>
            </a:srgbClr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249424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61872" y="2103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1261872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CaptionBot, BLIP-2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383280" y="2176272"/>
            <a:ext cx="0" cy="502920"/>
          </a:xfrm>
          <a:prstGeom prst="line">
            <a:avLst/>
          </a:prstGeom>
          <a:noFill/>
          <a:ln w="12700">
            <a:solidFill>
              <a:srgbClr val="0369A1">
                <a:alpha val="6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520440" y="2103120"/>
            <a:ext cx="5074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encoder extracts visual features; RNN/Transformer decoder generates descriptive natural language captions for arbitrary images.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11480" y="2971800"/>
            <a:ext cx="8321040" cy="841248"/>
          </a:xfrm>
          <a:prstGeom prst="rect">
            <a:avLst/>
          </a:prstGeom>
          <a:solidFill>
            <a:srgbClr val="0F172A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11480" y="2971800"/>
            <a:ext cx="54864" cy="8412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66928" y="3099816"/>
            <a:ext cx="566928" cy="566928"/>
          </a:xfrm>
          <a:prstGeom prst="ellipse">
            <a:avLst/>
          </a:prstGeom>
          <a:solidFill>
            <a:srgbClr val="0E7490">
              <a:alpha val="80000"/>
            </a:srgbClr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209544"/>
            <a:ext cx="347472" cy="34747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61872" y="3063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Summarization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1261872" y="3429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BART, T5, Pegasus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3383280" y="3136392"/>
            <a:ext cx="0" cy="502920"/>
          </a:xfrm>
          <a:prstGeom prst="line">
            <a:avLst/>
          </a:prstGeom>
          <a:noFill/>
          <a:ln w="12700">
            <a:solidFill>
              <a:srgbClr val="0E7490">
                <a:alpha val="60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520440" y="3063240"/>
            <a:ext cx="5074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documents are encoded into dense representations; the decoder autoregressively generates concise summaries preserving key information.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11480" y="3931920"/>
            <a:ext cx="8321040" cy="841248"/>
          </a:xfrm>
          <a:prstGeom prst="rect">
            <a:avLst/>
          </a:prstGeom>
          <a:solidFill>
            <a:srgbClr val="0F172A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11480" y="3931920"/>
            <a:ext cx="54864" cy="8412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566928" y="4059936"/>
            <a:ext cx="566928" cy="566928"/>
          </a:xfrm>
          <a:prstGeom prst="ellipse">
            <a:avLst/>
          </a:prstGeom>
          <a:solidFill>
            <a:srgbClr val="065F46">
              <a:alpha val="80000"/>
            </a:srgbClr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169664"/>
            <a:ext cx="347472" cy="34747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261872" y="4023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Segmentation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1261872" y="4389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U-Net, DeepLab, SegFormer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3383280" y="4096512"/>
            <a:ext cx="0" cy="502920"/>
          </a:xfrm>
          <a:prstGeom prst="line">
            <a:avLst/>
          </a:prstGeom>
          <a:noFill/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3520440" y="4023360"/>
            <a:ext cx="5074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extracts multi-scale features; decoder upsamples to produce pixel-wise semantic segmentation masks for medical imaging and autonomous driving.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of CV Techniques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analysis of the four core methodologies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 / 16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8321040" cy="379476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1737360"/>
                <a:gridCol w="1737360"/>
                <a:gridCol w="1554480"/>
              </a:tblGrid>
              <a:tr h="6675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Technique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Input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Applications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B6D4"/>
                          </a:solidFill>
                        </a:rPr>
                        <a:t>CNN Classification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Categorize images into classes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Image / Video Frame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Class Label + Confidence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Object recognition, Medical diagnosis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A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B6D4"/>
                          </a:solidFill>
                        </a:rPr>
                        <a:t>Face Detection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Locate faces in images/video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Image / Live Camera Feed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Bounding Boxes + Landmarks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Security, Attendance, Unlock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B6D4"/>
                          </a:solidFill>
                        </a:rPr>
                        <a:t>Body Structure Analysis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Detect human body keypoints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Image / Video (person visible)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Skeleton / Keypoint Coordinates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Fitness, Sports, Healthcare, AR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A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B6D4"/>
                          </a:solidFill>
                        </a:rPr>
                        <a:t>Encoder–Decoder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Transform input to new representation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Image / Text / Audio / Video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Segmentation Map / Translation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Translation, Captioning, Segmentation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Challenges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 and limitations of Computer Vision today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13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51560"/>
            <a:ext cx="4023360" cy="3840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4023360" cy="960120"/>
          </a:xfrm>
          <a:prstGeom prst="rect">
            <a:avLst/>
          </a:prstGeom>
          <a:solidFill>
            <a:srgbClr val="166534">
              <a:alpha val="6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5727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Automation at Scale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856232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thousands of images per second without human intervention — enabling 24/7 quality control, monitoring, and analysis.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606040"/>
            <a:ext cx="4023360" cy="960120"/>
          </a:xfrm>
          <a:prstGeom prst="rect">
            <a:avLst/>
          </a:prstGeom>
          <a:solidFill>
            <a:srgbClr val="15803D">
              <a:alpha val="6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67004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Superhuman Accuracy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2953512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CNNs achieve &lt;1% error rate on ImageNet — surpassing human performance in specific domains like radiology and defect detection.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703320"/>
            <a:ext cx="4023360" cy="960120"/>
          </a:xfrm>
          <a:prstGeom prst="rect">
            <a:avLst/>
          </a:prstGeom>
          <a:solidFill>
            <a:srgbClr val="14532D">
              <a:alpha val="6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76732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Real-Time Processing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4050792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chips (NVIDIA Jetson, Apple Neural Engine) enable CV inference at 100+ FPS on device, enabling instantaneous responses.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1051560"/>
            <a:ext cx="402336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0515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CHALLENGES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1508760"/>
            <a:ext cx="4023360" cy="960120"/>
          </a:xfrm>
          <a:prstGeom prst="rect">
            <a:avLst/>
          </a:prstGeom>
          <a:solidFill>
            <a:srgbClr val="7F1D1D">
              <a:alpha val="6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15727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Large Data Requirements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28032" y="1856232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models need millions of labeled images. Annotation is expensive — ImageNet took 2+ years and 50,000 workers to build.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606040"/>
            <a:ext cx="4023360" cy="960120"/>
          </a:xfrm>
          <a:prstGeom prst="rect">
            <a:avLst/>
          </a:prstGeom>
          <a:solidFill>
            <a:srgbClr val="991B1B">
              <a:alpha val="6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67004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Computational Cost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28032" y="2953512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ResNet-50 requires ~10^18 FLOPs and GPU clusters worth $1M+. Inference at scale demands specialized hardware investment.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3703320"/>
            <a:ext cx="4023360" cy="960120"/>
          </a:xfrm>
          <a:prstGeom prst="rect">
            <a:avLst/>
          </a:prstGeom>
          <a:solidFill>
            <a:srgbClr val="7F1D1D">
              <a:alpha val="6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76732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Privacy &amp; Ethics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28032" y="4050792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surveillance, biometric data collection, and deepfake generation raise serious concerns. GDPR and emerging AI Acts restrict biometric CV.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53128" y="1051560"/>
            <a:ext cx="0" cy="32918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Computer Vision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frontiers and transformative possibilities ahead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2104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14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051560"/>
            <a:ext cx="4023360" cy="1719072"/>
          </a:xfrm>
          <a:prstGeom prst="rect">
            <a:avLst/>
          </a:prstGeom>
          <a:solidFill>
            <a:srgbClr val="BE185D">
              <a:alpha val="55000"/>
            </a:srgbClr>
          </a:solidFill>
          <a:ln w="19050">
            <a:solidFill>
              <a:srgbClr val="BE185D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38912" cy="4389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11612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Healthcare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520440" y="1161288"/>
            <a:ext cx="822960" cy="256032"/>
          </a:xfrm>
          <a:prstGeom prst="rect">
            <a:avLst/>
          </a:prstGeom>
          <a:solidFill>
            <a:srgbClr val="BE185D">
              <a:alpha val="90000"/>
            </a:srgbClr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20440" y="11612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2025–2030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48640" y="1709928"/>
            <a:ext cx="37673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CV models will diagnose diseases from MRI, CT, and retinal scans with specialist-level accuracy. Real-time surgical guidance and drug discovery through molecular imaging.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81728" y="1051560"/>
            <a:ext cx="4023360" cy="1719072"/>
          </a:xfrm>
          <a:prstGeom prst="rect">
            <a:avLst/>
          </a:prstGeom>
          <a:solidFill>
            <a:srgbClr val="1D4ED8">
              <a:alpha val="55000"/>
            </a:srgbClr>
          </a:solidFill>
          <a:ln w="19050">
            <a:solidFill>
              <a:srgbClr val="1D4ED8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188720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67528" y="11612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790688" y="1161288"/>
            <a:ext cx="822960" cy="256032"/>
          </a:xfrm>
          <a:prstGeom prst="rect">
            <a:avLst/>
          </a:prstGeom>
          <a:solidFill>
            <a:srgbClr val="1D4ED8">
              <a:alpha val="9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790688" y="11612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2026–2032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818888" y="1709928"/>
            <a:ext cx="37673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Pervasive CV infrastructure manages traffic flow, detects infrastructure damage, monitors air quality, and enables touchless public services across urban environments.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11480" y="2971800"/>
            <a:ext cx="4023360" cy="1719072"/>
          </a:xfrm>
          <a:prstGeom prst="rect">
            <a:avLst/>
          </a:prstGeom>
          <a:solidFill>
            <a:srgbClr val="7C3AED">
              <a:alpha val="55000"/>
            </a:srgbClr>
          </a:solidFill>
          <a:ln w="19050">
            <a:solidFill>
              <a:srgbClr val="7C3AED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0"/>
            <a:ext cx="438912" cy="4389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97280" y="30815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Robotics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3520440" y="3081528"/>
            <a:ext cx="822960" cy="256032"/>
          </a:xfrm>
          <a:prstGeom prst="rect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520440" y="3081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2027–2035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548640" y="3630168"/>
            <a:ext cx="37673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with human-level 3D scene understanding will work alongside humans in factories, perform microsurgery, and navigate unstructured environments autonomously.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4681728" y="2971800"/>
            <a:ext cx="4023360" cy="1719072"/>
          </a:xfrm>
          <a:prstGeom prst="rect">
            <a:avLst/>
          </a:prstGeom>
          <a:solidFill>
            <a:srgbClr val="0369A1">
              <a:alpha val="55000"/>
            </a:srgbClr>
          </a:solidFill>
          <a:ln w="19050">
            <a:solidFill>
              <a:srgbClr val="0369A1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3108960"/>
            <a:ext cx="438912" cy="4389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67528" y="30815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Autonomy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790688" y="3081528"/>
            <a:ext cx="822960" cy="256032"/>
          </a:xfrm>
          <a:prstGeom prst="rect">
            <a:avLst/>
          </a:prstGeom>
          <a:solidFill>
            <a:srgbClr val="0369A1">
              <a:alpha val="90000"/>
            </a:srgbClr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790688" y="3081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2028–2035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4818888" y="3630168"/>
            <a:ext cx="37673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autonomous vehicles achieving universal deployment through improved adverse-weather CV, sensor fusion, and real-time HD map updates powered by fleet learning.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Takeaways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Synthesizing the four pillars of modern Computer Vision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2104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15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078992"/>
            <a:ext cx="4041648" cy="1508760"/>
          </a:xfrm>
          <a:prstGeom prst="rect">
            <a:avLst/>
          </a:prstGeom>
          <a:solidFill>
            <a:srgbClr val="1D4ED8">
              <a:alpha val="60000"/>
            </a:srgbClr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704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11887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Image Classification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21208" y="162763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revolutionized visual AI by learning hierarchical features automatically. From ResNet to EfficientNet, they form the backbone of image understanding and achieve near-perfect accuracy on benchmark tasks.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90872" y="1078992"/>
            <a:ext cx="4041648" cy="1508760"/>
          </a:xfrm>
          <a:prstGeom prst="rect">
            <a:avLst/>
          </a:prstGeom>
          <a:solidFill>
            <a:srgbClr val="0369A1">
              <a:alpha val="60000"/>
            </a:srgbClr>
          </a:solidFill>
          <a:ln w="1905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11704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76672" y="11887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0600" y="162763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real-time face detection is now ubiquitous — from smartphone cameras to surveillance infrastructure. MTCNN and RetinaFace enable sub-millisecond detection of multiple faces.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770632"/>
            <a:ext cx="4041648" cy="1508760"/>
          </a:xfrm>
          <a:prstGeom prst="rect">
            <a:avLst/>
          </a:prstGeom>
          <a:solidFill>
            <a:srgbClr val="0E7490">
              <a:alpha val="60000"/>
            </a:srgbClr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8620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97280" y="288036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Structure Analysis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21208" y="33192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pose estimation has democratized motion analysis — enabling affordable sports coaching, physical rehabilitation monitoring, and gesture-based interfaces without expensive equipment.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90872" y="2770632"/>
            <a:ext cx="4041648" cy="1508760"/>
          </a:xfrm>
          <a:prstGeom prst="rect">
            <a:avLst/>
          </a:prstGeom>
          <a:solidFill>
            <a:srgbClr val="065F46">
              <a:alpha val="60000"/>
            </a:srgbClr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90872" y="28620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376672" y="288036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Encoder–Decoder Architecture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00600" y="33192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versatile architecture underpins transformative AI including image segmentation, neural machine translation, and image-to-text generation — foundational to multimodal AI systems.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4526280"/>
            <a:ext cx="8321040" cy="457200"/>
          </a:xfrm>
          <a:prstGeom prst="rect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is not just a technology — it is the visual cortex of Artificial Intelligence.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4572000" cy="4572000"/>
          </a:xfrm>
          <a:prstGeom prst="ellipse">
            <a:avLst/>
          </a:prstGeom>
          <a:solidFill>
            <a:srgbClr val="2563EB">
              <a:alpha val="22000"/>
            </a:srgbClr>
          </a:solidFill>
          <a:ln w="12700">
            <a:solidFill>
              <a:srgbClr val="2563EB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097280"/>
            <a:ext cx="4114800" cy="4114800"/>
          </a:xfrm>
          <a:prstGeom prst="ellipse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3200400"/>
            <a:ext cx="2743200" cy="27432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74320"/>
            <a:ext cx="73152" cy="73152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73152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651760"/>
            <a:ext cx="73152" cy="73152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840480"/>
            <a:ext cx="73152" cy="73152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274320"/>
            <a:ext cx="73152" cy="73152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1463040"/>
            <a:ext cx="73152" cy="73152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2651760"/>
            <a:ext cx="73152" cy="73152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3840480"/>
            <a:ext cx="73152" cy="73152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74320"/>
            <a:ext cx="73152" cy="73152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463040"/>
            <a:ext cx="73152" cy="73152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2651760"/>
            <a:ext cx="73152" cy="73152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3840480"/>
            <a:ext cx="73152" cy="73152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74320"/>
            <a:ext cx="73152" cy="73152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463040"/>
            <a:ext cx="73152" cy="73152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651760"/>
            <a:ext cx="73152" cy="73152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840480"/>
            <a:ext cx="73152" cy="73152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274320"/>
            <a:ext cx="73152" cy="73152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1463040"/>
            <a:ext cx="73152" cy="73152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651760"/>
            <a:ext cx="73152" cy="73152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3840480"/>
            <a:ext cx="73152" cy="73152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274320"/>
            <a:ext cx="73152" cy="73152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1463040"/>
            <a:ext cx="73152" cy="73152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2651760"/>
            <a:ext cx="73152" cy="73152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3840480"/>
            <a:ext cx="73152" cy="73152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8229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800" dirty="0"/>
          </a:p>
        </p:txBody>
      </p:sp>
      <p:sp>
        <p:nvSpPr>
          <p:cNvPr id="31" name="Shape 29"/>
          <p:cNvSpPr/>
          <p:nvPr/>
        </p:nvSpPr>
        <p:spPr>
          <a:xfrm>
            <a:off x="914400" y="2103120"/>
            <a:ext cx="41148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228600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14400" y="290779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free to ask questions about any of the topics covered.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14400" y="3401568"/>
            <a:ext cx="7772400" cy="45720"/>
          </a:xfrm>
          <a:prstGeom prst="rect">
            <a:avLst/>
          </a:prstGeom>
          <a:solidFill>
            <a:srgbClr val="2563EB">
              <a:alpha val="70000"/>
            </a:srgbClr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354787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Classification  ·  Face Detection  ·  Body Structure Analysis  ·  Encoder–Decoder Architecture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4400" y="45537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/ M.Tech Seminar  ·  Department of Computer Science &amp; Engineering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- Academic Seminar</dc:title>
  <dc:subject>PptxGenJS Presentation</dc:subject>
  <dc:creator>B.Tech / M.Tech Seminar</dc:creator>
  <cp:lastModifiedBy>B.Tech / M.Tech Seminar</cp:lastModifiedBy>
  <cp:revision>1</cp:revision>
  <dcterms:created xsi:type="dcterms:W3CDTF">2026-06-01T19:18:47Z</dcterms:created>
  <dcterms:modified xsi:type="dcterms:W3CDTF">2026-06-01T19:18:47Z</dcterms:modified>
</cp:coreProperties>
</file>